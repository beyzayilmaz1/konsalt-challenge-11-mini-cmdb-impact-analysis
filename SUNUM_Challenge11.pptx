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5270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6042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5F7F6"/>
                </a:solidFill>
                <a:latin typeface="Calibri"/>
              </a:rPr>
              <a:t>Mini-CMDB ve Etki Analizi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5098"/>
            <a:ext cx="98755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chemeClr val="bg1"/>
                </a:solidFill>
                <a:latin typeface="Calibri"/>
              </a:rPr>
              <a:t>KONSALT Challenge 11 · Capstone Final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Sunumu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
</a:t>
            </a:r>
            <a:r>
              <a:rPr lang="tr-TR" sz="2000" dirty="0">
                <a:solidFill>
                  <a:schemeClr val="bg1"/>
                </a:solidFill>
              </a:rPr>
              <a:t>Bir CI hizmet dışı kaldığında hangi servisler etkilenir?</a:t>
            </a:r>
            <a:endParaRPr sz="2000" b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EA86A"/>
                </a:solidFill>
                <a:latin typeface="Calibri"/>
              </a:rPr>
              <a:t>Adım adım: Veri modeli → API → Discovery → Etki analizi → Arayüz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SUNUM PLANI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3200" b="1" dirty="0">
                <a:solidFill>
                  <a:srgbClr val="F5F7F6"/>
                </a:solidFill>
              </a:rPr>
              <a:t>Sunum Akışı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1. Problem: Neden bir CMDB’ye ihtiyaç var?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2. Adım 1 — Veritabanı: CI’lar ve ilişkiler nasıl modellendi?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3. Adım 2 — API: Veriye nasıl erişiliyor?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4. Adım 3 — Discovery: Envanter nasıl otomatik dolduruluyor?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5. Adım 4 — Etki analizi: Ters BFS ile çökme etkisi nasıl hesaplanıyor?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6. Adım 5 — Arayüz: Streamlit + CLI canlı demo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7. Bonuslar, doğrulama ve özet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3200" dirty="0">
                <a:solidFill>
                  <a:schemeClr val="bg1"/>
                </a:solidFill>
              </a:rPr>
              <a:t>Hangi İhtiyacı Karşılıyoruz?</a:t>
            </a:r>
            <a:endParaRPr sz="3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5156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BT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ortamında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sunucu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uygulama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veritabanı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gibi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birçok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bileşen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vardır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Asıl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zorluk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liste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tutmak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değil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;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bu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bileşenlerin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birbirine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nasıl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bağlı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olduğunu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bilmektir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Örnek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soru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: ANKARA-DB01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çökerse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hangi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uygulamalar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çalışamaz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hale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gelir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?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Excel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ile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bu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cevap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yavaş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hataya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açıktır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. CMDB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sistemleri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ilişki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grafı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tutarak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saniyeler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içinde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yanıt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verir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2000" b="0" dirty="0">
                <a:solidFill>
                  <a:schemeClr val="bg1"/>
                </a:solidFill>
                <a:latin typeface="+mj-lt"/>
              </a:rPr>
              <a:t>•  </a:t>
            </a:r>
            <a:r>
              <a:rPr lang="tr-TR" sz="2000" dirty="0">
                <a:solidFill>
                  <a:schemeClr val="bg1"/>
                </a:solidFill>
                <a:latin typeface="+mj-lt"/>
              </a:rPr>
              <a:t>Bu projede CMDB yaklaşımının eğitim ölçeğinde çalışan bir prototipi geliştirildi.</a:t>
            </a:r>
            <a:endParaRPr sz="2000" b="0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b="1" dirty="0">
                <a:solidFill>
                  <a:srgbClr val="F5F7F6"/>
                </a:solidFill>
              </a:rPr>
              <a:t>Dört Katmanlı Yapı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743200" cy="411480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A86A"/>
                </a:solidFill>
                <a:latin typeface="Calibri"/>
              </a:rPr>
              <a:t>1. Veri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SQLite veritabanı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ci + iliski tabloları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Yönlü ilişki grafı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554480"/>
            <a:ext cx="2743200" cy="411480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188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A86A"/>
                </a:solidFill>
                <a:latin typeface="Calibri"/>
              </a:rPr>
              <a:t>2.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FastAPI servisi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CI ve ilişki CRUD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Tek yazma otoritesi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2743200" cy="411480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A86A"/>
                </a:solidFill>
                <a:latin typeface="Calibri"/>
              </a:rPr>
              <a:t>3. Keşif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4884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discovery.py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psutil ile tarama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HTTP üzerinden kayıt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554480"/>
            <a:ext cx="2743200" cy="411480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72600" y="1737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A86A"/>
                </a:solidFill>
                <a:latin typeface="Calibri"/>
              </a:rPr>
              <a:t>4. Analiz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14884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Ters BFS etki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İleri BFS kök neden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Streamlit +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ADIM 1 · VERİTABANI (Görev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800" b="1" dirty="0" err="1">
                <a:solidFill>
                  <a:srgbClr val="F5F7F6"/>
                </a:solidFill>
              </a:rPr>
              <a:t>Configuration</a:t>
            </a:r>
            <a:r>
              <a:rPr lang="tr-TR" sz="2800" b="1" dirty="0">
                <a:solidFill>
                  <a:srgbClr val="F5F7F6"/>
                </a:solidFill>
              </a:rPr>
              <a:t> </a:t>
            </a:r>
            <a:r>
              <a:rPr lang="tr-TR" sz="2800" b="1" dirty="0" err="1">
                <a:solidFill>
                  <a:srgbClr val="F5F7F6"/>
                </a:solidFill>
              </a:rPr>
              <a:t>Item</a:t>
            </a:r>
            <a:r>
              <a:rPr lang="tr-TR" sz="2800" b="1" dirty="0">
                <a:solidFill>
                  <a:srgbClr val="F5F7F6"/>
                </a:solidFill>
              </a:rPr>
              <a:t> ve İlişkiler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03520" cy="448056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A86A"/>
                </a:solidFill>
                <a:latin typeface="Calibri"/>
              </a:rPr>
              <a:t>ci tablosu = bileşenler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493775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Her satır bir Configuration Item (CI)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Alanlar: id, name, ci_type, ozellikler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Tipler: server, application, database, process, port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name benzersiz → aynı CI iki kez oluşmaz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03520" cy="448056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C040"/>
                </a:solidFill>
                <a:latin typeface="Calibri"/>
              </a:rPr>
              <a:t>iliski tablosu = bağlantılar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93775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Kaynak CI → Hedef CI yönlü kenar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Tipler: calisir, bagimli, baglanir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Aynı ilişki tekrar eklenemez (UNIQUE)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Örnek: APP-ORDER --bagimli--&gt; ANKARA-DB01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ADIM 2 · API (Görev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3200" b="1" dirty="0">
                <a:solidFill>
                  <a:schemeClr val="bg1"/>
                </a:solidFill>
              </a:rPr>
              <a:t>API: Merkezi Veri ve Yazma Otoritesi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FastAPI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ile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bir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REST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servisi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yazıldı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(main.py).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CI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ekleme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listeleme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,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detay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isimle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güncelleme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(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upsert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)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uçları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eklendi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İki CI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arasında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ilişki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kurma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bir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CI’nın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tüm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ilişkilerini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okuma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desteklendi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Discovery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arayüzler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doğrudan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veritabanına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yazmaz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; hep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API’yi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kullanır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Bu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sayede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CMDB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tek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doğru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kaynak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(system of record)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olarak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kalır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A86A"/>
                </a:solidFill>
                <a:latin typeface="Calibri"/>
              </a:rPr>
              <a:t>ADIM 2 · API PORTALI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F5F7F6"/>
                </a:solidFill>
                <a:latin typeface="Calibri"/>
              </a:rPr>
              <a:t>Ana </a:t>
            </a:r>
            <a:r>
              <a:rPr lang="tr-TR" sz="2400" b="1" dirty="0">
                <a:solidFill>
                  <a:srgbClr val="F5F7F6"/>
                </a:solidFill>
                <a:latin typeface="Calibri"/>
              </a:rPr>
              <a:t>G</a:t>
            </a:r>
            <a:r>
              <a:rPr sz="2400" b="1" dirty="0" err="1">
                <a:solidFill>
                  <a:srgbClr val="F5F7F6"/>
                </a:solidFill>
                <a:latin typeface="Calibri"/>
              </a:rPr>
              <a:t>iriş</a:t>
            </a:r>
            <a:r>
              <a:rPr sz="2400" b="1" dirty="0">
                <a:solidFill>
                  <a:srgbClr val="F5F7F6"/>
                </a:solidFill>
                <a:latin typeface="Calibri"/>
              </a:rPr>
              <a:t>: Mini-CMDB API</a:t>
            </a:r>
          </a:p>
        </p:txBody>
      </p:sp>
      <p:pic>
        <p:nvPicPr>
          <p:cNvPr id="6" name="Picture 5" descr="04-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4461" y="1051560"/>
            <a:ext cx="7242772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8B8B2"/>
                </a:solidFill>
                <a:latin typeface="Calibri"/>
              </a:rPr>
              <a:t>http://localhost:8000/  ·  FastAPI · SQLite · OpenAPI 3 · Streamlit arayüz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A86A"/>
                </a:solidFill>
                <a:latin typeface="Calibri"/>
              </a:rPr>
              <a:t>ADIM 2 · DOKÜMANTASYON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F5F7F6"/>
                </a:solidFill>
                <a:latin typeface="Calibri"/>
              </a:rPr>
              <a:t>Swagger </a:t>
            </a:r>
            <a:r>
              <a:rPr sz="2400" b="1" dirty="0" err="1">
                <a:solidFill>
                  <a:srgbClr val="F5F7F6"/>
                </a:solidFill>
                <a:latin typeface="Calibri"/>
              </a:rPr>
              <a:t>ile</a:t>
            </a:r>
            <a:r>
              <a:rPr sz="2400" b="1" dirty="0">
                <a:solidFill>
                  <a:srgbClr val="F5F7F6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5F7F6"/>
                </a:solidFill>
                <a:latin typeface="Calibri"/>
              </a:rPr>
              <a:t>uçlar</a:t>
            </a:r>
            <a:r>
              <a:rPr sz="2400" b="1" dirty="0">
                <a:solidFill>
                  <a:srgbClr val="F5F7F6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5F7F6"/>
                </a:solidFill>
                <a:latin typeface="Calibri"/>
              </a:rPr>
              <a:t>canlı</a:t>
            </a:r>
            <a:r>
              <a:rPr sz="2400" b="1" dirty="0">
                <a:solidFill>
                  <a:srgbClr val="F5F7F6"/>
                </a:solidFill>
                <a:latin typeface="Calibri"/>
              </a:rPr>
              <a:t> test </a:t>
            </a:r>
            <a:r>
              <a:rPr sz="2400" b="1" dirty="0" err="1">
                <a:solidFill>
                  <a:srgbClr val="F5F7F6"/>
                </a:solidFill>
                <a:latin typeface="Calibri"/>
              </a:rPr>
              <a:t>edilebilir</a:t>
            </a:r>
            <a:endParaRPr sz="2400" b="1" dirty="0">
              <a:solidFill>
                <a:srgbClr val="F5F7F6"/>
              </a:solidFill>
              <a:latin typeface="Calibri"/>
            </a:endParaRPr>
          </a:p>
        </p:txBody>
      </p:sp>
      <p:pic>
        <p:nvPicPr>
          <p:cNvPr id="6" name="Picture 5" descr="03-swagger-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4461" y="1051560"/>
            <a:ext cx="7242772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B8B2"/>
                </a:solidFill>
                <a:latin typeface="Calibri"/>
              </a:rPr>
              <a:t>CI oluşturma, ilişki kurma, sağlık kontrolü ve analiz uçları burada görünür · Sonraki slaytta örnek sorgular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A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A86A"/>
                </a:solidFill>
                <a:latin typeface="Calibri"/>
              </a:rPr>
              <a:t>ADIM 2 · SORGU ÖRNEKLERİ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F7F6"/>
                </a:solidFill>
                <a:latin typeface="Calibri"/>
              </a:rPr>
              <a:t>Swagger’dan denenebilecek birkaç örnek istek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1234439"/>
            <a:ext cx="5166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A86A"/>
                </a:solidFill>
                <a:latin typeface="Calibri"/>
              </a:rPr>
              <a:t>1) Sistem ayakta mı?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" y="1572768"/>
            <a:ext cx="5202936" cy="1463039"/>
          </a:xfrm>
          <a:prstGeom prst="roundRect">
            <a:avLst>
              <a:gd name="adj" fmla="val 6000"/>
            </a:avLst>
          </a:prstGeom>
          <a:solidFill>
            <a:srgbClr val="081412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1664207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A86A"/>
                </a:solidFill>
                <a:latin typeface="Consolas"/>
              </a:rPr>
              <a:t>GET  /health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curl http://127.0.0.1:8000/health</a:t>
            </a:r>
          </a:p>
          <a:p>
            <a:pPr>
              <a:spcBef>
                <a:spcPts val="400"/>
              </a:spcBef>
            </a:pPr>
            <a:endParaRPr sz="1200" b="0">
              <a:solidFill>
                <a:srgbClr val="C8E6D8"/>
              </a:solidFill>
              <a:latin typeface="Consolas"/>
            </a:endParaRP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# beklenen: {"status":"ok"}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081528"/>
            <a:ext cx="51663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B2"/>
                </a:solidFill>
                <a:latin typeface="Calibri"/>
              </a:rPr>
              <a:t>Sağlık kontrolü — ilk deneme için en basit uç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73368" y="1234439"/>
            <a:ext cx="5166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A86A"/>
                </a:solidFill>
                <a:latin typeface="Calibri"/>
              </a:rPr>
              <a:t>2) Envanteri listele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36792" y="1572768"/>
            <a:ext cx="5202936" cy="1463039"/>
          </a:xfrm>
          <a:prstGeom prst="roundRect">
            <a:avLst>
              <a:gd name="adj" fmla="val 6000"/>
            </a:avLst>
          </a:prstGeom>
          <a:solidFill>
            <a:srgbClr val="081412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4808" y="1664207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A86A"/>
                </a:solidFill>
                <a:latin typeface="Consolas"/>
              </a:rPr>
              <a:t>GET  /ci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curl http://127.0.0.1:8000/ci</a:t>
            </a:r>
          </a:p>
          <a:p>
            <a:pPr>
              <a:spcBef>
                <a:spcPts val="400"/>
              </a:spcBef>
            </a:pPr>
            <a:endParaRPr sz="1200" b="0">
              <a:solidFill>
                <a:srgbClr val="C8E6D8"/>
              </a:solidFill>
              <a:latin typeface="Consolas"/>
            </a:endParaRP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# tüm CI kayıtlarını JSON olarak döner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3081528"/>
            <a:ext cx="51663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B2"/>
                </a:solidFill>
                <a:latin typeface="Calibri"/>
              </a:rPr>
              <a:t>Sunucu, uygulama, veritabanı… hepsi burada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65760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3794760"/>
            <a:ext cx="5166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A86A"/>
                </a:solidFill>
                <a:latin typeface="Calibri"/>
              </a:rPr>
              <a:t>3) Yeni CI ekle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" y="4133087"/>
            <a:ext cx="5202936" cy="1737360"/>
          </a:xfrm>
          <a:prstGeom prst="roundRect">
            <a:avLst>
              <a:gd name="adj" fmla="val 6000"/>
            </a:avLst>
          </a:prstGeom>
          <a:solidFill>
            <a:srgbClr val="081412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" y="4224528"/>
            <a:ext cx="4983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A86A"/>
                </a:solidFill>
                <a:latin typeface="Consolas"/>
              </a:rPr>
              <a:t>POST  /ci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curl -X POST http://127.0.0.1:8000/ci \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  -H "Content-Type: application/json" \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  -d '{"name":"APP-ORDER","ci_type":"application"}'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5916168"/>
            <a:ext cx="51663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B2"/>
                </a:solidFill>
                <a:latin typeface="Calibri"/>
              </a:rPr>
              <a:t>Swagger’da Try it out ile de deneyebilirsiniz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65760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3368" y="3794760"/>
            <a:ext cx="51663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A86A"/>
                </a:solidFill>
                <a:latin typeface="Calibri"/>
              </a:rPr>
              <a:t>4) Etki analizi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36792" y="4133087"/>
            <a:ext cx="5202936" cy="1737360"/>
          </a:xfrm>
          <a:prstGeom prst="roundRect">
            <a:avLst>
              <a:gd name="adj" fmla="val 6000"/>
            </a:avLst>
          </a:prstGeom>
          <a:solidFill>
            <a:srgbClr val="081412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64808" y="4224528"/>
            <a:ext cx="4983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A86A"/>
                </a:solidFill>
                <a:latin typeface="Consolas"/>
              </a:rPr>
              <a:t>GET  /ci/{id}/etki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curl http://127.0.0.1:8000/ci/5/etki</a:t>
            </a:r>
          </a:p>
          <a:p>
            <a:pPr>
              <a:spcBef>
                <a:spcPts val="400"/>
              </a:spcBef>
            </a:pPr>
            <a:endParaRPr sz="1200" b="0">
              <a:solidFill>
                <a:srgbClr val="C8E6D8"/>
              </a:solidFill>
              <a:latin typeface="Consolas"/>
            </a:endParaRP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# 5 yerine ANKARA-DB01’in id’sini yazın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C8E6D8"/>
                </a:solidFill>
                <a:latin typeface="Consolas"/>
              </a:rPr>
              <a:t># dönen: etkilenen CI listesi + derinlik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5916168"/>
            <a:ext cx="516635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B2"/>
                </a:solidFill>
                <a:latin typeface="Calibri"/>
              </a:rPr>
              <a:t>Projenin kalbi — çökerse kim etkilenir?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ADIM 3 · DISCOVERY (Görev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3200" b="1" dirty="0">
                <a:solidFill>
                  <a:schemeClr val="bg1"/>
                </a:solidFill>
              </a:rPr>
              <a:t>Envanterin Otomatik Keşfi ve Güncellenmesi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discovery.py, psutil ile bilgisayarı tarar.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Makine → server CI; izin listesindeki süreçler → process CI; dinlenen portlar → port CI.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Bulunan her kayıt HTTP ile API’ye gönderilir; script doğrudan SQLite’a yazmaz.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İsimler sabit tutulur (PID yok) ve upsert kullanılır → ikinci çalıştırmada duplicate oluşmaz.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Bu ortamda 15+ CI üretildi; ikinci koşuda net artış sıfır oldu.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3CA2328A-5E9D-27B5-CE71-14FC7EEDD9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011451" y="4305783"/>
            <a:ext cx="5934903" cy="15473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ADIM 4 · ETKİ ANALİZİ (Görev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3200" b="1" dirty="0">
                <a:solidFill>
                  <a:srgbClr val="F5F7F6"/>
                </a:solidFill>
              </a:rPr>
              <a:t>Çökme Senaryosunda Etkilenen Bileşenler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515600" cy="2195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lang="tr-TR" sz="2000" dirty="0">
                <a:solidFill>
                  <a:srgbClr val="E8F0EC"/>
                </a:solidFill>
              </a:rPr>
              <a:t>•  Temel soru: Seçilen CI hizmet dışı kalırsa hangi bileşenler etkilenir?</a:t>
            </a:r>
          </a:p>
          <a:p>
            <a:pPr>
              <a:spcAft>
                <a:spcPts val="1100"/>
              </a:spcAft>
            </a:pPr>
            <a:r>
              <a:rPr lang="tr-TR" sz="2000" dirty="0">
                <a:solidFill>
                  <a:srgbClr val="E8F0EC"/>
                </a:solidFill>
              </a:rPr>
              <a:t>•  Bağımlılıklar kayıtta uygulama → </a:t>
            </a:r>
            <a:r>
              <a:rPr lang="tr-TR" sz="2000" dirty="0" err="1">
                <a:solidFill>
                  <a:srgbClr val="E8F0EC"/>
                </a:solidFill>
              </a:rPr>
              <a:t>veritabanı</a:t>
            </a:r>
            <a:r>
              <a:rPr lang="tr-TR" sz="2000" dirty="0">
                <a:solidFill>
                  <a:srgbClr val="E8F0EC"/>
                </a:solidFill>
              </a:rPr>
              <a:t> yönünde tutulur.</a:t>
            </a:r>
          </a:p>
          <a:p>
            <a:pPr>
              <a:spcAft>
                <a:spcPts val="1100"/>
              </a:spcAft>
            </a:pPr>
            <a:r>
              <a:rPr lang="tr-TR" sz="2000" dirty="0">
                <a:solidFill>
                  <a:srgbClr val="E8F0EC"/>
                </a:solidFill>
              </a:rPr>
              <a:t>•  Etki hesabı, bu ilişkilerin ters yönünde BFS ile ilerler.</a:t>
            </a:r>
          </a:p>
          <a:p>
            <a:pPr>
              <a:spcAft>
                <a:spcPts val="1100"/>
              </a:spcAft>
            </a:pPr>
            <a:r>
              <a:rPr lang="tr-TR" sz="2000" dirty="0">
                <a:solidFill>
                  <a:srgbClr val="E8F0EC"/>
                </a:solidFill>
              </a:rPr>
              <a:t>•  Her etkilenen için derinlik bilgisi üretilir; döngüler ziyaret kontrolüyle engellenir.</a:t>
            </a:r>
          </a:p>
          <a:p>
            <a:pPr>
              <a:spcAft>
                <a:spcPts val="1200"/>
              </a:spcAft>
            </a:pPr>
            <a:r>
              <a:rPr sz="2000" dirty="0">
                <a:solidFill>
                  <a:schemeClr val="bg1"/>
                </a:solidFill>
                <a:latin typeface="Calibri"/>
              </a:rPr>
              <a:t>• </a:t>
            </a:r>
            <a:r>
              <a:rPr lang="tr-TR" sz="2000" dirty="0">
                <a:solidFill>
                  <a:schemeClr val="bg1"/>
                </a:solidFill>
              </a:rPr>
              <a:t>Test senaryosu: ANKARA-DB01 → 2 uygulama + </a:t>
            </a:r>
            <a:r>
              <a:rPr lang="tr-TR" sz="2000" dirty="0" err="1">
                <a:solidFill>
                  <a:schemeClr val="bg1"/>
                </a:solidFill>
              </a:rPr>
              <a:t>frontend</a:t>
            </a:r>
            <a:r>
              <a:rPr lang="tr-TR" sz="2000" dirty="0">
                <a:solidFill>
                  <a:schemeClr val="bg1"/>
                </a:solidFill>
              </a:rPr>
              <a:t> (+ keşif </a:t>
            </a:r>
            <a:r>
              <a:rPr lang="tr-TR" sz="2000" dirty="0" err="1">
                <a:solidFill>
                  <a:schemeClr val="bg1"/>
                </a:solidFill>
              </a:rPr>
              <a:t>CI’ları</a:t>
            </a:r>
            <a:r>
              <a:rPr lang="tr-TR" sz="2000" dirty="0">
                <a:solidFill>
                  <a:schemeClr val="bg1"/>
                </a:solidFill>
              </a:rPr>
              <a:t>) = 3 etkilenen.</a:t>
            </a:r>
            <a:endParaRPr sz="2000" dirty="0">
              <a:solidFill>
                <a:schemeClr val="bg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ADIM 4 · DEMO SENARYOSU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600" b="1" dirty="0">
                <a:solidFill>
                  <a:srgbClr val="F5F7F6"/>
                </a:solidFill>
              </a:rPr>
              <a:t>ANKARA-DB01 Çökme Etkisi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749041"/>
            <a:ext cx="10972800" cy="2195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 dirty="0">
                <a:solidFill>
                  <a:srgbClr val="F5F7F6"/>
                </a:solidFill>
                <a:latin typeface="Calibri"/>
              </a:rPr>
              <a:t>•  Başlangıç: ANKARA-DB01 (veritabanı)</a:t>
            </a:r>
          </a:p>
          <a:p>
            <a:pPr algn="l">
              <a:spcAft>
                <a:spcPts val="1400"/>
              </a:spcAft>
            </a:pPr>
            <a:r>
              <a:rPr sz="1800" b="0" dirty="0">
                <a:solidFill>
                  <a:srgbClr val="F5F7F6"/>
                </a:solidFill>
                <a:latin typeface="Calibri"/>
              </a:rPr>
              <a:t>•  1. seviye: APP-ORDER ve APP-BILLING </a:t>
            </a:r>
            <a:r>
              <a:rPr sz="1800" b="0" dirty="0" err="1">
                <a:solidFill>
                  <a:srgbClr val="F5F7F6"/>
                </a:solidFill>
                <a:latin typeface="Calibri"/>
              </a:rPr>
              <a:t>doğrudan</a:t>
            </a:r>
            <a:r>
              <a:rPr sz="1800" b="0" dirty="0">
                <a:solidFill>
                  <a:srgbClr val="F5F7F6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F5F7F6"/>
                </a:solidFill>
                <a:latin typeface="Calibri"/>
              </a:rPr>
              <a:t>etkilenir</a:t>
            </a:r>
            <a:r>
              <a:rPr lang="tr-TR" sz="1800" b="0" dirty="0">
                <a:solidFill>
                  <a:srgbClr val="F5F7F6"/>
                </a:solidFill>
                <a:latin typeface="Calibri"/>
              </a:rPr>
              <a:t>.</a:t>
            </a:r>
            <a:endParaRPr sz="1800" b="0" dirty="0">
              <a:solidFill>
                <a:srgbClr val="F5F7F6"/>
              </a:solidFill>
              <a:latin typeface="Calibri"/>
            </a:endParaRPr>
          </a:p>
          <a:p>
            <a:pPr algn="l">
              <a:spcAft>
                <a:spcPts val="1400"/>
              </a:spcAft>
            </a:pPr>
            <a:r>
              <a:rPr sz="1800" b="0" dirty="0">
                <a:solidFill>
                  <a:srgbClr val="F5F7F6"/>
                </a:solidFill>
                <a:latin typeface="Calibri"/>
              </a:rPr>
              <a:t>•  2. seviye: FRONTEND-WEB </a:t>
            </a:r>
            <a:r>
              <a:rPr sz="1800" b="0" dirty="0" err="1">
                <a:solidFill>
                  <a:srgbClr val="F5F7F6"/>
                </a:solidFill>
                <a:latin typeface="Calibri"/>
              </a:rPr>
              <a:t>dolaylı</a:t>
            </a:r>
            <a:r>
              <a:rPr sz="1800" b="0" dirty="0">
                <a:solidFill>
                  <a:srgbClr val="F5F7F6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F5F7F6"/>
                </a:solidFill>
                <a:latin typeface="Calibri"/>
              </a:rPr>
              <a:t>etkilenir</a:t>
            </a:r>
            <a:r>
              <a:rPr lang="tr-TR" sz="1800" b="0" dirty="0">
                <a:solidFill>
                  <a:srgbClr val="F5F7F6"/>
                </a:solidFill>
                <a:latin typeface="Calibri"/>
              </a:rPr>
              <a:t>.</a:t>
            </a:r>
            <a:endParaRPr sz="1800" b="0" dirty="0">
              <a:solidFill>
                <a:srgbClr val="F5F7F6"/>
              </a:solidFill>
              <a:latin typeface="Calibri"/>
            </a:endParaRPr>
          </a:p>
          <a:p>
            <a:pPr algn="l">
              <a:spcAft>
                <a:spcPts val="1400"/>
              </a:spcAft>
            </a:pPr>
            <a:r>
              <a:rPr sz="1800" b="0" dirty="0">
                <a:solidFill>
                  <a:srgbClr val="F5F7F6"/>
                </a:solidFill>
                <a:latin typeface="Calibri"/>
              </a:rPr>
              <a:t>•  Sonuç: 3 etkilenen bileşen; kritik </a:t>
            </a:r>
            <a:r>
              <a:rPr sz="1800" b="0" dirty="0" err="1">
                <a:solidFill>
                  <a:srgbClr val="F5F7F6"/>
                </a:solidFill>
                <a:latin typeface="Calibri"/>
              </a:rPr>
              <a:t>yollar</a:t>
            </a:r>
            <a:r>
              <a:rPr sz="1800" b="0" dirty="0">
                <a:solidFill>
                  <a:srgbClr val="F5F7F6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F5F7F6"/>
                </a:solidFill>
                <a:latin typeface="Calibri"/>
              </a:rPr>
              <a:t>önceliklendirilir</a:t>
            </a:r>
            <a:r>
              <a:rPr lang="tr-TR" sz="1800" b="0" dirty="0">
                <a:solidFill>
                  <a:srgbClr val="F5F7F6"/>
                </a:solidFill>
                <a:latin typeface="Calibri"/>
              </a:rPr>
              <a:t>.</a:t>
            </a:r>
            <a:endParaRPr sz="1800" b="0" dirty="0">
              <a:solidFill>
                <a:srgbClr val="F5F7F6"/>
              </a:solidFill>
              <a:latin typeface="Calibri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tr-TR" dirty="0">
                <a:solidFill>
                  <a:schemeClr val="bg1"/>
                </a:solidFill>
              </a:rPr>
              <a:t>Kök neden analizi aynı mantığın tersidir: FRONTEND-WEB yavaşsa alt bileşenlere bakılır.</a:t>
            </a:r>
          </a:p>
        </p:txBody>
      </p:sp>
      <p:sp>
        <p:nvSpPr>
          <p:cNvPr id="10" name="Rounded Rectangle 5">
            <a:extLst>
              <a:ext uri="{FF2B5EF4-FFF2-40B4-BE49-F238E27FC236}">
                <a16:creationId xmlns:a16="http://schemas.microsoft.com/office/drawing/2014/main" id="{AF069FCF-24CB-09CA-860B-682C7BBB7F97}"/>
              </a:ext>
            </a:extLst>
          </p:cNvPr>
          <p:cNvSpPr/>
          <p:nvPr/>
        </p:nvSpPr>
        <p:spPr>
          <a:xfrm>
            <a:off x="640080" y="1310750"/>
            <a:ext cx="10515600" cy="1920240"/>
          </a:xfrm>
          <a:prstGeom prst="roundRect">
            <a:avLst>
              <a:gd name="adj" fmla="val 5000"/>
            </a:avLst>
          </a:prstGeom>
          <a:solidFill>
            <a:srgbClr val="081412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B14016CB-26FB-531F-BCB6-ECE6C1BF3CED}"/>
              </a:ext>
            </a:extLst>
          </p:cNvPr>
          <p:cNvSpPr txBox="1"/>
          <p:nvPr/>
        </p:nvSpPr>
        <p:spPr>
          <a:xfrm>
            <a:off x="1020927" y="1507237"/>
            <a:ext cx="101498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 err="1">
                <a:solidFill>
                  <a:srgbClr val="2EA86A"/>
                </a:solidFill>
                <a:latin typeface="Calibri"/>
              </a:rPr>
              <a:t>Kontrollü</a:t>
            </a:r>
            <a:r>
              <a:rPr sz="1300" b="1" dirty="0">
                <a:solidFill>
                  <a:srgbClr val="2EA86A"/>
                </a:solidFill>
                <a:latin typeface="Calibri"/>
              </a:rPr>
              <a:t> </a:t>
            </a:r>
            <a:r>
              <a:rPr lang="tr-TR" sz="1300" b="1" dirty="0">
                <a:solidFill>
                  <a:srgbClr val="2EA86A"/>
                </a:solidFill>
                <a:latin typeface="Calibri"/>
              </a:rPr>
              <a:t>Ö</a:t>
            </a:r>
            <a:r>
              <a:rPr sz="1300" b="1" dirty="0" err="1">
                <a:solidFill>
                  <a:srgbClr val="2EA86A"/>
                </a:solidFill>
                <a:latin typeface="Calibri"/>
              </a:rPr>
              <a:t>rnek</a:t>
            </a:r>
            <a:r>
              <a:rPr sz="1300" b="1" dirty="0">
                <a:solidFill>
                  <a:srgbClr val="2EA86A"/>
                </a:solidFill>
                <a:latin typeface="Calibri"/>
              </a:rPr>
              <a:t> </a:t>
            </a:r>
            <a:r>
              <a:rPr lang="tr-TR" sz="1300" b="1" dirty="0">
                <a:solidFill>
                  <a:srgbClr val="2EA86A"/>
                </a:solidFill>
                <a:latin typeface="Calibri"/>
              </a:rPr>
              <a:t>Z</a:t>
            </a:r>
            <a:r>
              <a:rPr sz="1300" b="1" dirty="0" err="1">
                <a:solidFill>
                  <a:srgbClr val="2EA86A"/>
                </a:solidFill>
                <a:latin typeface="Calibri"/>
              </a:rPr>
              <a:t>incir</a:t>
            </a:r>
            <a:endParaRPr sz="1300" b="1" dirty="0">
              <a:solidFill>
                <a:srgbClr val="2EA86A"/>
              </a:solidFill>
              <a:latin typeface="Calibri"/>
            </a:endParaRPr>
          </a:p>
        </p:txBody>
      </p:sp>
      <p:sp>
        <p:nvSpPr>
          <p:cNvPr id="14" name="TextBox 7">
            <a:extLst>
              <a:ext uri="{FF2B5EF4-FFF2-40B4-BE49-F238E27FC236}">
                <a16:creationId xmlns:a16="http://schemas.microsoft.com/office/drawing/2014/main" id="{BFF0D407-B015-418B-BBAB-E55B39CAE9F0}"/>
              </a:ext>
            </a:extLst>
          </p:cNvPr>
          <p:cNvSpPr txBox="1"/>
          <p:nvPr/>
        </p:nvSpPr>
        <p:spPr>
          <a:xfrm>
            <a:off x="1005840" y="1958450"/>
            <a:ext cx="10149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C8E6D8"/>
                </a:solidFill>
                <a:latin typeface="Consolas"/>
              </a:rPr>
              <a:t>FRONTEND-WEB  →  APP-ORDER    →  ANKARA-DB01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C8E6D8"/>
                </a:solidFill>
                <a:latin typeface="Consolas"/>
              </a:rPr>
              <a:t>FRONTEND-WEB  →  APP-BILLING  →  ANKARA-DB01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A86A"/>
                </a:solidFill>
                <a:latin typeface="Calibri"/>
              </a:rPr>
              <a:t>ADIM 5 · ARAYÜZ A (Görev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400" b="1" dirty="0">
                <a:solidFill>
                  <a:srgbClr val="F5F7F6"/>
                </a:solidFill>
              </a:rPr>
              <a:t>Web Arayüzü (</a:t>
            </a:r>
            <a:r>
              <a:rPr lang="tr-TR" sz="2400" b="1" dirty="0" err="1">
                <a:solidFill>
                  <a:srgbClr val="F5F7F6"/>
                </a:solidFill>
              </a:rPr>
              <a:t>Streamlit</a:t>
            </a:r>
            <a:r>
              <a:rPr lang="tr-TR" sz="2400" b="1" dirty="0">
                <a:solidFill>
                  <a:srgbClr val="F5F7F6"/>
                </a:solidFill>
              </a:rPr>
              <a:t>)</a:t>
            </a:r>
          </a:p>
        </p:txBody>
      </p:sp>
      <p:pic>
        <p:nvPicPr>
          <p:cNvPr id="6" name="Picture 5" descr="02-streamlit-et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4461" y="1051560"/>
            <a:ext cx="7242772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8B8B2"/>
                </a:solidFill>
                <a:latin typeface="Calibri"/>
              </a:rPr>
              <a:t>ANKARA-DB01 seçildi → 3 etkilenen CI · 2 kritik yol · derinlik sıralı liste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A86A"/>
                </a:solidFill>
                <a:latin typeface="Calibri"/>
              </a:rPr>
              <a:t>ADIM 5 · ARAYÜZ B (Görev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5F7F6"/>
                </a:solidFill>
                <a:latin typeface="Calibri"/>
              </a:rPr>
              <a:t>CLI: python etki.py ANKARA-DB01</a:t>
            </a:r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38D39190-2C85-B857-0FD3-936F634E2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625" y="1779096"/>
            <a:ext cx="6681550" cy="31643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GENİŞLETMELER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F5F7F6"/>
                </a:solidFill>
                <a:latin typeface="Calibri"/>
              </a:rPr>
              <a:t>Temel </a:t>
            </a:r>
            <a:r>
              <a:rPr lang="tr-TR" sz="2600" b="1" dirty="0">
                <a:solidFill>
                  <a:srgbClr val="F5F7F6"/>
                </a:solidFill>
                <a:latin typeface="Calibri"/>
              </a:rPr>
              <a:t>Ç</a:t>
            </a:r>
            <a:r>
              <a:rPr sz="2600" b="1" dirty="0" err="1">
                <a:solidFill>
                  <a:srgbClr val="F5F7F6"/>
                </a:solidFill>
                <a:latin typeface="Calibri"/>
              </a:rPr>
              <a:t>özümün</a:t>
            </a:r>
            <a:r>
              <a:rPr sz="2600" b="1" dirty="0">
                <a:solidFill>
                  <a:srgbClr val="F5F7F6"/>
                </a:solidFill>
                <a:latin typeface="Calibri"/>
              </a:rPr>
              <a:t> </a:t>
            </a:r>
            <a:r>
              <a:rPr lang="tr-TR" sz="2600" b="1" dirty="0">
                <a:solidFill>
                  <a:srgbClr val="F5F7F6"/>
                </a:solidFill>
                <a:latin typeface="Calibri"/>
              </a:rPr>
              <a:t>Ü</a:t>
            </a:r>
            <a:r>
              <a:rPr sz="2600" b="1" dirty="0" err="1">
                <a:solidFill>
                  <a:srgbClr val="F5F7F6"/>
                </a:solidFill>
                <a:latin typeface="Calibri"/>
              </a:rPr>
              <a:t>zerine</a:t>
            </a:r>
            <a:r>
              <a:rPr sz="2600" b="1" dirty="0">
                <a:solidFill>
                  <a:srgbClr val="F5F7F6"/>
                </a:solidFill>
                <a:latin typeface="Calibri"/>
              </a:rPr>
              <a:t> </a:t>
            </a:r>
            <a:r>
              <a:rPr lang="tr-TR" sz="2600" b="1" dirty="0">
                <a:solidFill>
                  <a:srgbClr val="F5F7F6"/>
                </a:solidFill>
                <a:latin typeface="Calibri"/>
              </a:rPr>
              <a:t>E</a:t>
            </a:r>
            <a:r>
              <a:rPr sz="2600" b="1" dirty="0" err="1">
                <a:solidFill>
                  <a:srgbClr val="F5F7F6"/>
                </a:solidFill>
                <a:latin typeface="Calibri"/>
              </a:rPr>
              <a:t>klenenler</a:t>
            </a:r>
            <a:endParaRPr sz="2600" b="1" dirty="0">
              <a:solidFill>
                <a:srgbClr val="F5F7F6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A86A"/>
                </a:solidFill>
                <a:latin typeface="Calibri"/>
              </a:rPr>
              <a:t>Kritiklik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İlişkilere ağırlık (1–5)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Yoldaki en yüksek değer taşınır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Kritik yollar öne çıkar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F0EC"/>
                </a:solidFill>
                <a:latin typeface="Calibri"/>
              </a:rPr>
              <a:t>•  Müdahale önceliği netleşir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2628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C040"/>
                </a:solidFill>
                <a:latin typeface="Calibri"/>
              </a:rPr>
              <a:t>Kök neden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0040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E8F0EC"/>
                </a:solidFill>
                <a:latin typeface="Calibri"/>
              </a:rPr>
              <a:t>•  Etki analizinin tersi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E8F0EC"/>
                </a:solidFill>
                <a:latin typeface="Calibri"/>
              </a:rPr>
              <a:t>•  İleri yönlü gezinme</a:t>
            </a:r>
          </a:p>
          <a:p>
            <a:pPr>
              <a:spcAft>
                <a:spcPts val="600"/>
              </a:spcAft>
            </a:pPr>
            <a:r>
              <a:rPr lang="tr-TR" sz="1400" dirty="0">
                <a:solidFill>
                  <a:srgbClr val="E8F0EC"/>
                </a:solidFill>
              </a:rPr>
              <a:t>•  Alt bileşen adayları</a:t>
            </a:r>
          </a:p>
          <a:p>
            <a:pPr>
              <a:spcAft>
                <a:spcPts val="600"/>
              </a:spcAft>
            </a:pPr>
            <a:r>
              <a:rPr lang="tr-TR" sz="1400" dirty="0">
                <a:solidFill>
                  <a:srgbClr val="E8F0EC"/>
                </a:solidFill>
              </a:rPr>
              <a:t>•  Arayüzde ayrı görünüm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22E28"/>
          </a:solidFill>
          <a:ln>
            <a:solidFill>
              <a:srgbClr val="1E4A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20" y="1600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A86A"/>
                </a:solidFill>
                <a:latin typeface="Calibri"/>
              </a:rPr>
              <a:t>Çoklu ortam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E8F0EC"/>
                </a:solidFill>
                <a:latin typeface="Calibri"/>
              </a:rPr>
              <a:t>•  İkinci ortamdan otomatik keşif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E8F0EC"/>
                </a:solidFill>
                <a:latin typeface="Calibri"/>
              </a:rPr>
              <a:t>•  Bulunan kayıtlar merkezi API’ye yazılır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E8F0EC"/>
                </a:solidFill>
                <a:latin typeface="Calibri"/>
              </a:rPr>
              <a:t>•  Ortam adı ile CI’lar ayrılır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E8F0EC"/>
                </a:solidFill>
                <a:latin typeface="Calibri"/>
              </a:rPr>
              <a:t>•  Ortak envanterde çakışma yok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DOĞRULAMA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3200" b="1" dirty="0">
                <a:solidFill>
                  <a:srgbClr val="F5F7F6"/>
                </a:solidFill>
              </a:rPr>
              <a:t>Kalite ve Kontrol Sonuçları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Veri modeli: ilişkiler tutarlı biçimde okunabiliyor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API: envanter ve ilişki işlemleri Swagger üzerinden doğrulandı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Discovery: yeterli CI üretimi; tekrar koşuda mükerrer artış yok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Etki analizi: zincir senaryosu beklenen sonucu veriyor; döngü kontrolü çalışıyor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Arayüz: teknik bilgi olmadan çökme etkisi okunabiliyor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E8F0EC"/>
                </a:solidFill>
                <a:latin typeface="Calibri"/>
              </a:rPr>
              <a:t>•  Otomatik testler: başarıyla tamamlandı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A86A"/>
                </a:solidFill>
                <a:latin typeface="Calibri"/>
              </a:rPr>
              <a:t>DEĞERLENDİRME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3200" b="1" dirty="0">
                <a:solidFill>
                  <a:srgbClr val="F5F7F6"/>
                </a:solidFill>
              </a:rPr>
              <a:t>Kapsam ve Gerçek Ürünlerle İlişki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5156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Çözüm, CMDB’nin temel değerini gösterir: ilişki + etki analizi.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Üretim CMDB’leriyle aynı çekirdek mantığı paylaşır: keşif, graf, etki.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Kapsam bilinçli olarak eğitim ölçeğindedir: sade model, odaklı yetenekler.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Gerçek ürünlerde ek olarak federasyon, reconciliation ve change/incident entegrasyonu bulunur.</a:t>
            </a:r>
          </a:p>
          <a:p>
            <a:pPr algn="l">
              <a:spcAft>
                <a:spcPts val="1200"/>
              </a:spcAft>
            </a:pPr>
            <a:r>
              <a:rPr sz="2000" b="0" dirty="0">
                <a:solidFill>
                  <a:srgbClr val="E8F0EC"/>
                </a:solidFill>
                <a:latin typeface="Calibri"/>
              </a:rPr>
              <a:t>•  Bu çalışma, </a:t>
            </a:r>
            <a:r>
              <a:rPr sz="2000" b="0" dirty="0" err="1">
                <a:solidFill>
                  <a:srgbClr val="E8F0EC"/>
                </a:solidFill>
                <a:latin typeface="Calibri"/>
              </a:rPr>
              <a:t>iş</a:t>
            </a:r>
            <a:r>
              <a:rPr sz="2000" b="0" dirty="0">
                <a:solidFill>
                  <a:srgbClr val="E8F0EC"/>
                </a:solidFill>
                <a:latin typeface="Calibri"/>
              </a:rPr>
              <a:t> alanındaki temel mimariyi uygulamalı olarak kanıtlar.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C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5F7F6"/>
                </a:solidFill>
                <a:latin typeface="Calibri"/>
              </a:rPr>
              <a:t>Teşekkürler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8755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A8B8B2"/>
                </a:solidFill>
                <a:latin typeface="Calibri"/>
              </a:rPr>
              <a:t>Mini-CMDB · </a:t>
            </a:r>
            <a:r>
              <a:rPr sz="2000" b="0" dirty="0" err="1">
                <a:solidFill>
                  <a:srgbClr val="A8B8B2"/>
                </a:solidFill>
                <a:latin typeface="Calibri"/>
              </a:rPr>
              <a:t>Adım</a:t>
            </a:r>
            <a:r>
              <a:rPr sz="2000" b="0" dirty="0">
                <a:solidFill>
                  <a:srgbClr val="A8B8B2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A8B8B2"/>
                </a:solidFill>
                <a:latin typeface="Calibri"/>
              </a:rPr>
              <a:t>adım</a:t>
            </a:r>
            <a:r>
              <a:rPr sz="2000" b="0" dirty="0">
                <a:solidFill>
                  <a:srgbClr val="A8B8B2"/>
                </a:solidFill>
                <a:latin typeface="Calibri"/>
              </a:rPr>
              <a:t>: Veri → API → Discovery → </a:t>
            </a:r>
            <a:r>
              <a:rPr sz="2000" b="0" dirty="0" err="1">
                <a:solidFill>
                  <a:srgbClr val="A8B8B2"/>
                </a:solidFill>
                <a:latin typeface="Calibri"/>
              </a:rPr>
              <a:t>Etki</a:t>
            </a:r>
            <a:r>
              <a:rPr sz="2000" b="0" dirty="0">
                <a:solidFill>
                  <a:srgbClr val="A8B8B2"/>
                </a:solidFill>
                <a:latin typeface="Calibri"/>
              </a:rPr>
              <a:t> → </a:t>
            </a:r>
            <a:r>
              <a:rPr sz="2000" b="0" dirty="0" err="1">
                <a:solidFill>
                  <a:srgbClr val="A8B8B2"/>
                </a:solidFill>
                <a:latin typeface="Calibri"/>
              </a:rPr>
              <a:t>Arayüz</a:t>
            </a:r>
            <a:r>
              <a:rPr sz="2000" b="0" dirty="0">
                <a:solidFill>
                  <a:srgbClr val="A8B8B2"/>
                </a:solidFill>
                <a:latin typeface="Calibri"/>
              </a:rPr>
              <a:t>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1170</Words>
  <Application>Microsoft Office PowerPoint</Application>
  <PresentationFormat>Geniş ekran</PresentationFormat>
  <Paragraphs>150</Paragraphs>
  <Slides>18</Slides>
  <Notes>17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MONSTER</dc:creator>
  <cp:keywords/>
  <dc:description>generated using python-pptx</dc:description>
  <cp:lastModifiedBy>Beyza Yılmaz</cp:lastModifiedBy>
  <cp:revision>9</cp:revision>
  <dcterms:created xsi:type="dcterms:W3CDTF">2013-01-27T09:14:16Z</dcterms:created>
  <dcterms:modified xsi:type="dcterms:W3CDTF">2026-08-07T12:52:25Z</dcterms:modified>
  <cp:category/>
</cp:coreProperties>
</file>