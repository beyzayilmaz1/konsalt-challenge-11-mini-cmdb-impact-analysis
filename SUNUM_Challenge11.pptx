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3" y="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27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42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7F6"/>
                </a:solidFill>
                <a:latin typeface="Calibri"/>
              </a:rPr>
              <a:t>Mini-CMDB ve Etki Analizi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5098"/>
            <a:ext cx="9875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chemeClr val="bg1"/>
                </a:solidFill>
                <a:latin typeface="Calibri"/>
              </a:rPr>
              <a:t>KONSALT Challenge 11 · Capstone Final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Sunumu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
</a:t>
            </a:r>
            <a:r>
              <a:rPr lang="tr-TR" sz="2000" dirty="0">
                <a:solidFill>
                  <a:schemeClr val="bg1"/>
                </a:solidFill>
              </a:rPr>
              <a:t>Bir CI hizmet dışı kaldığında hangi servisler etkilenir?</a:t>
            </a:r>
            <a:endParaRPr sz="2000" b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A86A"/>
                </a:solidFill>
                <a:latin typeface="Calibri"/>
              </a:rPr>
              <a:t>Adım adım: Veri modeli → API → Discovery → Etki analizi → Arayüz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SUNUM PLANI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F5F7F6"/>
                </a:solidFill>
              </a:rPr>
              <a:t>Sunum Akışı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1. Problem: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Neden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CMDB’ye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ihtiyaç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var?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2.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1 —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Veritabanı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CI’lar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ilişkiler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nasıl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modellendi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?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3.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2 — API: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Veriye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nasıl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erişiliyor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?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4.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3 — Discovery: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Envanter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nasıl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otomatik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dolduruluyor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?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5.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4 —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Etki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analizi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Ters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BFS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çökme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etkisi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nasıl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hesaplanıyor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?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6.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5 —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Arayüz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Streamlit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+ CLI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canlı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demo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7.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Bonuslar</a:t>
            </a:r>
            <a:r>
              <a:rPr lang="tr-TR" sz="200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özet</a:t>
            </a:r>
            <a:endParaRPr sz="2000" b="0" dirty="0">
              <a:solidFill>
                <a:srgbClr val="E8F0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dirty="0">
                <a:solidFill>
                  <a:schemeClr val="bg1"/>
                </a:solidFill>
              </a:rPr>
              <a:t>Hangi İhtiyacı Karşılıyoruz?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BT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ortamında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sunucu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uygulama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veritabanı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gibi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birçok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bileşen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vardır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zorluk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liste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tutmak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değil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;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bileşenlerin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birbirine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nasıl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bağlı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olduğunu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bilmektir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Örnek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soru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: ANKARA-DB01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çökerse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hangi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uygulamalar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çalışamaz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hale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gelir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?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Excel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cevap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yavaş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hataya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açıktır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 CMDB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sistemleri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ilişki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grafı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tutarak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saniyeler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içinde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yanıt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2000" b="0" dirty="0">
                <a:solidFill>
                  <a:schemeClr val="bg1"/>
                </a:solidFill>
                <a:latin typeface="+mj-lt"/>
              </a:rPr>
              <a:t>•  </a:t>
            </a:r>
            <a:r>
              <a:rPr lang="tr-TR" sz="2000" dirty="0">
                <a:solidFill>
                  <a:schemeClr val="bg1"/>
                </a:solidFill>
                <a:latin typeface="+mj-lt"/>
              </a:rPr>
              <a:t>Bu projede CMDB yaklaşımının eğitim ölçeğinde çalışan bir prototipi geliştirildi.</a:t>
            </a:r>
            <a:endParaRPr sz="200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F5F7F6"/>
                </a:solidFill>
              </a:rPr>
              <a:t>Dört Katmanlı Yapı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1. Veri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SQLite veritabanı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ci + iliski tabloları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Yönlü ilişki grafı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2.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FastAPI servisi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CI ve ilişki CRUD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Tek yazma otoritesi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3. Keşif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discovery.py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psutil ile tarama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HTTP üzerinden kayıt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4. Analiz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Ters BFS etki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İleri BFS kök neden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Streamlit +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1 · VERİTABANI (Görev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 err="1">
                <a:solidFill>
                  <a:srgbClr val="F5F7F6"/>
                </a:solidFill>
              </a:rPr>
              <a:t>Configuration</a:t>
            </a:r>
            <a:r>
              <a:rPr lang="tr-TR" sz="2800" b="1" dirty="0">
                <a:solidFill>
                  <a:srgbClr val="F5F7F6"/>
                </a:solidFill>
              </a:rPr>
              <a:t> </a:t>
            </a:r>
            <a:r>
              <a:rPr lang="tr-TR" sz="2800" b="1" dirty="0" err="1">
                <a:solidFill>
                  <a:srgbClr val="F5F7F6"/>
                </a:solidFill>
              </a:rPr>
              <a:t>Item</a:t>
            </a:r>
            <a:r>
              <a:rPr lang="tr-TR" sz="2800" b="1" dirty="0">
                <a:solidFill>
                  <a:srgbClr val="F5F7F6"/>
                </a:solidFill>
              </a:rPr>
              <a:t> ve İlişkiler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ci tablosu = bileşenler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5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Her satır bir Configuration Item (CI)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Alanlar: id, name, ci_type, ozellikler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Tipler: server, application, database, process, port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name benzersiz → aynı CI iki kez oluşmaz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Calibri"/>
              </a:rPr>
              <a:t>iliski tablosu = bağlantılar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3775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Kaynak CI → Hedef CI yönlü kenar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Tipler: calisir, bagimli, baglanir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Aynı ilişki tekrar eklenemez (UNIQUE)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Örnek: APP-ORDER --bagimli--&gt; ANKARA-DB01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2 · API (Görev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chemeClr val="bg1"/>
                </a:solidFill>
              </a:rPr>
              <a:t>API: Merkezi Veri ve Yazma Otoritesi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FastAPI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REST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servisi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yazıldı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(main.py).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CI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ekleme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listeleme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detay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isimle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güncelleme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(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upsert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)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uçları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eklendi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İki CI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arasında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ilişki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kurma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CI’nın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tüm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ilişkilerini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okuma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desteklendi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Discovery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arayüzler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doğrudan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veritabanına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yazmaz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; hep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API’yi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kullanır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Bu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sayede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CMDB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tek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doğru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kaynak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(system of record)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olarak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kalır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2 · API PORTALI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5F7F6"/>
                </a:solidFill>
                <a:latin typeface="Calibri"/>
              </a:rPr>
              <a:t>Ana </a:t>
            </a:r>
            <a:r>
              <a:rPr lang="tr-TR" sz="2400" b="1" dirty="0">
                <a:solidFill>
                  <a:srgbClr val="F5F7F6"/>
                </a:solidFill>
                <a:latin typeface="Calibri"/>
              </a:rPr>
              <a:t>G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iriş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: Mini-CMDB API</a:t>
            </a:r>
          </a:p>
        </p:txBody>
      </p:sp>
      <p:pic>
        <p:nvPicPr>
          <p:cNvPr id="6" name="Picture 5" descr="04-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61" y="1051560"/>
            <a:ext cx="724277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8B2"/>
                </a:solidFill>
                <a:latin typeface="Calibri"/>
              </a:rPr>
              <a:t>http://localhost:8000/  ·  FastAPI · SQLite · OpenAPI 3 · Streamlit arayüz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2 · DOKÜMANTASYON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5F7F6"/>
                </a:solidFill>
                <a:latin typeface="Calibri"/>
              </a:rPr>
              <a:t>Swagger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ile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uçlar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canlı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 test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edilebilir</a:t>
            </a:r>
            <a:endParaRPr sz="2400" b="1" dirty="0">
              <a:solidFill>
                <a:srgbClr val="F5F7F6"/>
              </a:solidFill>
              <a:latin typeface="Calibri"/>
            </a:endParaRPr>
          </a:p>
        </p:txBody>
      </p:sp>
      <p:pic>
        <p:nvPicPr>
          <p:cNvPr id="6" name="Picture 5" descr="03-swagger-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61" y="1051560"/>
            <a:ext cx="724277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8B8B2"/>
                </a:solidFill>
                <a:latin typeface="Calibri"/>
              </a:rPr>
              <a:t>CI oluşturma, ilişki kurma, sağlık kontrolü ve analiz uçları burada görünür · Sonraki slaytta örnek sorgular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2 · SORGU ÖRNEKLERİ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7F6"/>
                </a:solidFill>
                <a:latin typeface="Calibri"/>
              </a:rPr>
              <a:t>Swagger’dan denenebilecek birkaç örnek istek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234439"/>
            <a:ext cx="516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86A"/>
                </a:solidFill>
                <a:latin typeface="Calibri"/>
              </a:rPr>
              <a:t>1) Sistem ayakta mı?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572768"/>
            <a:ext cx="5202936" cy="1463039"/>
          </a:xfrm>
          <a:prstGeom prst="roundRect">
            <a:avLst>
              <a:gd name="adj" fmla="val 6000"/>
            </a:avLst>
          </a:prstGeom>
          <a:solidFill>
            <a:srgbClr val="081412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664207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A86A"/>
                </a:solidFill>
                <a:latin typeface="Consolas"/>
              </a:rPr>
              <a:t>GET  /health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curl http://127.0.0.1:8000/health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C8E6D8"/>
              </a:solidFill>
              <a:latin typeface="Consolas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# beklenen: {"status":"ok"}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081528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B2"/>
                </a:solidFill>
                <a:latin typeface="Calibri"/>
              </a:rPr>
              <a:t>Sağlık kontrolü — ilk deneme için en basit uç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234439"/>
            <a:ext cx="516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86A"/>
                </a:solidFill>
                <a:latin typeface="Calibri"/>
              </a:rPr>
              <a:t>2) Envanteri listele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572768"/>
            <a:ext cx="5202936" cy="1463039"/>
          </a:xfrm>
          <a:prstGeom prst="roundRect">
            <a:avLst>
              <a:gd name="adj" fmla="val 6000"/>
            </a:avLst>
          </a:prstGeom>
          <a:solidFill>
            <a:srgbClr val="081412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64207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A86A"/>
                </a:solidFill>
                <a:latin typeface="Consolas"/>
              </a:rPr>
              <a:t>GET  /ci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curl http://127.0.0.1:8000/ci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C8E6D8"/>
              </a:solidFill>
              <a:latin typeface="Consolas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# tüm CI kayıtlarını JSON olarak döner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081528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B2"/>
                </a:solidFill>
                <a:latin typeface="Calibri"/>
              </a:rPr>
              <a:t>Sunucu, uygulama, veritabanı… hepsi burada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5532120" cy="260604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794760"/>
            <a:ext cx="516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86A"/>
                </a:solidFill>
                <a:latin typeface="Calibri"/>
              </a:rPr>
              <a:t>3) Yeni CI ekle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4133087"/>
            <a:ext cx="5202936" cy="1737360"/>
          </a:xfrm>
          <a:prstGeom prst="roundRect">
            <a:avLst>
              <a:gd name="adj" fmla="val 6000"/>
            </a:avLst>
          </a:prstGeom>
          <a:solidFill>
            <a:srgbClr val="081412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224528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A86A"/>
                </a:solidFill>
                <a:latin typeface="Consolas"/>
              </a:rPr>
              <a:t>POST  /ci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curl -X POST http://127.0.0.1:8000/ci \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  -H "Content-Type: application/json" \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  -d '{"name":"APP-ORDER","ci_type":"application"}'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916168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B2"/>
                </a:solidFill>
                <a:latin typeface="Calibri"/>
              </a:rPr>
              <a:t>Swagger’da Try it out ile de deneyebilirsiniz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57600"/>
            <a:ext cx="5532120" cy="260604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3794760"/>
            <a:ext cx="5166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86A"/>
                </a:solidFill>
                <a:latin typeface="Calibri"/>
              </a:rPr>
              <a:t>4) Etki analizi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4133087"/>
            <a:ext cx="5202936" cy="1737360"/>
          </a:xfrm>
          <a:prstGeom prst="roundRect">
            <a:avLst>
              <a:gd name="adj" fmla="val 6000"/>
            </a:avLst>
          </a:prstGeom>
          <a:solidFill>
            <a:srgbClr val="081412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224528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A86A"/>
                </a:solidFill>
                <a:latin typeface="Consolas"/>
              </a:rPr>
              <a:t>GET  /ci/{id}/etki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curl http://127.0.0.1:8000/ci/5/etki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C8E6D8"/>
              </a:solidFill>
              <a:latin typeface="Consolas"/>
            </a:endParaRP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# 5 yerine ANKARA-DB01’in id’sini yazın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8E6D8"/>
                </a:solidFill>
                <a:latin typeface="Consolas"/>
              </a:rPr>
              <a:t># dönen: etkilenen CI listesi + derinlik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916168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B2"/>
                </a:solidFill>
                <a:latin typeface="Calibri"/>
              </a:rPr>
              <a:t>Projenin kalbi — çökerse kim etkilenir?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3 · DISCOVERY (Görev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chemeClr val="bg1"/>
                </a:solidFill>
              </a:rPr>
              <a:t>Envanterin Otomatik Keşfi ve Güncellenmesi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discovery.py, psutil ile bilgisayarı tarar.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Makine → server CI; izin listesindeki süreçler → process CI; dinlenen portlar → port CI.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Bulunan her kayıt HTTP ile API’ye gönderilir; script doğrudan SQLite’a yazmaz.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İsimler sabit tutulur (PID yok) ve upsert kullanılır → ikinci çalıştırmada duplicate oluşmaz.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Bu ortamda 15+ CI üretildi; ikinci koşuda net artış sıfır oldu.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3CA2328A-5E9D-27B5-CE71-14FC7EEDD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11451" y="4305783"/>
            <a:ext cx="5934903" cy="1547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4 · ETKİ ANALİZİ (Görev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F5F7F6"/>
                </a:solidFill>
              </a:rPr>
              <a:t>Çökme Senaryosunda Etkilenen Bileşenler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Temel soru: Seçilen CI hizmet dışı kalırsa hangi bileşenler etkilenir?</a:t>
            </a:r>
          </a:p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Bağımlılıklar kayıtta uygulama → </a:t>
            </a:r>
            <a:r>
              <a:rPr lang="tr-TR" sz="2000" dirty="0" err="1">
                <a:solidFill>
                  <a:srgbClr val="E8F0EC"/>
                </a:solidFill>
              </a:rPr>
              <a:t>veritabanı</a:t>
            </a:r>
            <a:r>
              <a:rPr lang="tr-TR" sz="2000" dirty="0">
                <a:solidFill>
                  <a:srgbClr val="E8F0EC"/>
                </a:solidFill>
              </a:rPr>
              <a:t> yönünde tutulur.</a:t>
            </a:r>
          </a:p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Etki hesabı, bu ilişkilerin ters yönünde BFS ile ilerler.</a:t>
            </a:r>
          </a:p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Her etkilenen için derinlik bilgisi üretilir; döngüler ziyaret kontrolüyle engellenir.</a:t>
            </a:r>
          </a:p>
          <a:p>
            <a:r>
              <a:rPr sz="2000" dirty="0">
                <a:solidFill>
                  <a:schemeClr val="bg1"/>
                </a:solidFill>
                <a:latin typeface="Calibri"/>
              </a:rPr>
              <a:t>• </a:t>
            </a:r>
            <a:r>
              <a:rPr lang="tr-TR" dirty="0">
                <a:solidFill>
                  <a:schemeClr val="bg1"/>
                </a:solidFill>
              </a:rPr>
              <a:t>Test senaryosu: ANKARA-DB01 çökerse → APP-ORDER, APP-BILLING ve FRONTEND-WEB etkilenir (toplam 3).</a:t>
            </a:r>
          </a:p>
          <a:p>
            <a:br>
              <a:rPr lang="tr-TR" dirty="0"/>
            </a:br>
            <a:endParaRPr sz="200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4 · DEMO SENARYOSU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600" b="1" dirty="0">
                <a:solidFill>
                  <a:srgbClr val="F5F7F6"/>
                </a:solidFill>
              </a:rPr>
              <a:t>ANKARA-DB01 Çökme Etkisi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49041"/>
            <a:ext cx="109728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Başlangıç: ANKARA-DB01 (veritabanı)</a:t>
            </a:r>
          </a:p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1. seviye: APP-ORDER ve APP-BILLING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doğrudan</a:t>
            </a:r>
            <a:r>
              <a:rPr sz="1800" b="0" dirty="0">
                <a:solidFill>
                  <a:srgbClr val="F5F7F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etkilenir</a:t>
            </a:r>
            <a:r>
              <a:rPr lang="tr-TR" sz="1800" b="0" dirty="0">
                <a:solidFill>
                  <a:srgbClr val="F5F7F6"/>
                </a:solidFill>
                <a:latin typeface="Calibri"/>
              </a:rPr>
              <a:t>.</a:t>
            </a:r>
            <a:endParaRPr sz="1800" b="0" dirty="0">
              <a:solidFill>
                <a:srgbClr val="F5F7F6"/>
              </a:solidFill>
              <a:latin typeface="Calibri"/>
            </a:endParaRPr>
          </a:p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2. seviye: FRONTEND-WEB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dolaylı</a:t>
            </a:r>
            <a:r>
              <a:rPr sz="1800" b="0" dirty="0">
                <a:solidFill>
                  <a:srgbClr val="F5F7F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etkilenir</a:t>
            </a:r>
            <a:r>
              <a:rPr lang="tr-TR" sz="1800" b="0" dirty="0">
                <a:solidFill>
                  <a:srgbClr val="F5F7F6"/>
                </a:solidFill>
                <a:latin typeface="Calibri"/>
              </a:rPr>
              <a:t>.</a:t>
            </a:r>
            <a:endParaRPr sz="1800" b="0" dirty="0">
              <a:solidFill>
                <a:srgbClr val="F5F7F6"/>
              </a:solidFill>
              <a:latin typeface="Calibri"/>
            </a:endParaRPr>
          </a:p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Sonuç: 3 etkilenen bileşen; kritik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yollar</a:t>
            </a:r>
            <a:r>
              <a:rPr sz="1800" b="0" dirty="0">
                <a:solidFill>
                  <a:srgbClr val="F5F7F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önceliklendirilir</a:t>
            </a:r>
            <a:r>
              <a:rPr lang="tr-TR" sz="1800" b="0" dirty="0">
                <a:solidFill>
                  <a:srgbClr val="F5F7F6"/>
                </a:solidFill>
                <a:latin typeface="Calibri"/>
              </a:rPr>
              <a:t>.</a:t>
            </a:r>
            <a:endParaRPr sz="1800" b="0" dirty="0">
              <a:solidFill>
                <a:srgbClr val="F5F7F6"/>
              </a:solidFill>
              <a:latin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Kök neden analizi aynı mantığın tersidir: FRONTEND-WEB yavaşsa alt bileşenlere bakılır.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AF069FCF-24CB-09CA-860B-682C7BBB7F97}"/>
              </a:ext>
            </a:extLst>
          </p:cNvPr>
          <p:cNvSpPr/>
          <p:nvPr/>
        </p:nvSpPr>
        <p:spPr>
          <a:xfrm>
            <a:off x="640080" y="1310750"/>
            <a:ext cx="10515600" cy="1920240"/>
          </a:xfrm>
          <a:prstGeom prst="roundRect">
            <a:avLst>
              <a:gd name="adj" fmla="val 5000"/>
            </a:avLst>
          </a:prstGeom>
          <a:solidFill>
            <a:srgbClr val="081412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14016CB-26FB-531F-BCB6-ECE6C1BF3CED}"/>
              </a:ext>
            </a:extLst>
          </p:cNvPr>
          <p:cNvSpPr txBox="1"/>
          <p:nvPr/>
        </p:nvSpPr>
        <p:spPr>
          <a:xfrm>
            <a:off x="1020927" y="1507237"/>
            <a:ext cx="1014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EA86A"/>
                </a:solidFill>
                <a:latin typeface="Calibri"/>
              </a:rPr>
              <a:t>Kontrollü</a:t>
            </a:r>
            <a:r>
              <a:rPr sz="1300" b="1" dirty="0">
                <a:solidFill>
                  <a:srgbClr val="2EA86A"/>
                </a:solidFill>
                <a:latin typeface="Calibri"/>
              </a:rPr>
              <a:t> </a:t>
            </a:r>
            <a:r>
              <a:rPr lang="tr-TR" sz="1300" b="1" dirty="0">
                <a:solidFill>
                  <a:srgbClr val="2EA86A"/>
                </a:solidFill>
                <a:latin typeface="Calibri"/>
              </a:rPr>
              <a:t>Ö</a:t>
            </a:r>
            <a:r>
              <a:rPr sz="1300" b="1" dirty="0" err="1">
                <a:solidFill>
                  <a:srgbClr val="2EA86A"/>
                </a:solidFill>
                <a:latin typeface="Calibri"/>
              </a:rPr>
              <a:t>rnek</a:t>
            </a:r>
            <a:r>
              <a:rPr sz="1300" b="1" dirty="0">
                <a:solidFill>
                  <a:srgbClr val="2EA86A"/>
                </a:solidFill>
                <a:latin typeface="Calibri"/>
              </a:rPr>
              <a:t> </a:t>
            </a:r>
            <a:r>
              <a:rPr lang="tr-TR" sz="1300" b="1" dirty="0">
                <a:solidFill>
                  <a:srgbClr val="2EA86A"/>
                </a:solidFill>
                <a:latin typeface="Calibri"/>
              </a:rPr>
              <a:t>Z</a:t>
            </a:r>
            <a:r>
              <a:rPr sz="1300" b="1" dirty="0" err="1">
                <a:solidFill>
                  <a:srgbClr val="2EA86A"/>
                </a:solidFill>
                <a:latin typeface="Calibri"/>
              </a:rPr>
              <a:t>incir</a:t>
            </a:r>
            <a:endParaRPr sz="1300" b="1" dirty="0">
              <a:solidFill>
                <a:srgbClr val="2EA86A"/>
              </a:solidFill>
              <a:latin typeface="Calibri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BFF0D407-B015-418B-BBAB-E55B39CAE9F0}"/>
              </a:ext>
            </a:extLst>
          </p:cNvPr>
          <p:cNvSpPr txBox="1"/>
          <p:nvPr/>
        </p:nvSpPr>
        <p:spPr>
          <a:xfrm>
            <a:off x="1005840" y="195845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dirty="0">
                <a:solidFill>
                  <a:srgbClr val="C8E6D8"/>
                </a:solidFill>
                <a:latin typeface="Consolas"/>
              </a:rPr>
              <a:t>FRONTEND-WEB  →  APP-ORDER    →  ANKARA-DB01</a:t>
            </a: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C8E6D8"/>
                </a:solidFill>
                <a:latin typeface="Consolas"/>
              </a:rPr>
              <a:t>FRONTEND-WEB  →  APP-BILLING  →  ANKARA-DB01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5 · ARAYÜZ A (Görev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5F7F6"/>
                </a:solidFill>
              </a:rPr>
              <a:t>Web Arayüzü (</a:t>
            </a:r>
            <a:r>
              <a:rPr lang="tr-TR" sz="2400" b="1" dirty="0" err="1">
                <a:solidFill>
                  <a:srgbClr val="F5F7F6"/>
                </a:solidFill>
              </a:rPr>
              <a:t>Streamlit</a:t>
            </a:r>
            <a:r>
              <a:rPr lang="tr-TR" sz="2400" b="1" dirty="0">
                <a:solidFill>
                  <a:srgbClr val="F5F7F6"/>
                </a:solidFill>
              </a:rPr>
              <a:t>)</a:t>
            </a:r>
          </a:p>
        </p:txBody>
      </p:sp>
      <p:pic>
        <p:nvPicPr>
          <p:cNvPr id="6" name="Picture 5" descr="02-streamlit-et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61" y="1051560"/>
            <a:ext cx="724277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8B2"/>
                </a:solidFill>
                <a:latin typeface="Calibri"/>
              </a:rPr>
              <a:t>ANKARA-DB01 seçildi → 3 etkilenen CI · 2 kritik yol · derinlik sıralı liste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5 · ARAYÜZ B (Görev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7F6"/>
                </a:solidFill>
                <a:latin typeface="Calibri"/>
              </a:rPr>
              <a:t>CLI: python etki.py ANKARA-DB01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38D39190-2C85-B857-0FD3-936F634E2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625" y="1779096"/>
            <a:ext cx="6681550" cy="31643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GENİŞLETMELER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5F7F6"/>
                </a:solidFill>
                <a:latin typeface="Calibri"/>
              </a:rPr>
              <a:t>Temel </a:t>
            </a:r>
            <a:r>
              <a:rPr lang="tr-TR" sz="2600" b="1" dirty="0">
                <a:solidFill>
                  <a:srgbClr val="F5F7F6"/>
                </a:solidFill>
                <a:latin typeface="Calibri"/>
              </a:rPr>
              <a:t>Ç</a:t>
            </a:r>
            <a:r>
              <a:rPr sz="2600" b="1" dirty="0" err="1">
                <a:solidFill>
                  <a:srgbClr val="F5F7F6"/>
                </a:solidFill>
                <a:latin typeface="Calibri"/>
              </a:rPr>
              <a:t>özümün</a:t>
            </a:r>
            <a:r>
              <a:rPr sz="26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lang="tr-TR" sz="2600" b="1" dirty="0">
                <a:solidFill>
                  <a:srgbClr val="F5F7F6"/>
                </a:solidFill>
                <a:latin typeface="Calibri"/>
              </a:rPr>
              <a:t>Ü</a:t>
            </a:r>
            <a:r>
              <a:rPr sz="2600" b="1" dirty="0" err="1">
                <a:solidFill>
                  <a:srgbClr val="F5F7F6"/>
                </a:solidFill>
                <a:latin typeface="Calibri"/>
              </a:rPr>
              <a:t>zerine</a:t>
            </a:r>
            <a:r>
              <a:rPr sz="26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lang="tr-TR" sz="2600" b="1" dirty="0">
                <a:solidFill>
                  <a:srgbClr val="F5F7F6"/>
                </a:solidFill>
                <a:latin typeface="Calibri"/>
              </a:rPr>
              <a:t>E</a:t>
            </a:r>
            <a:r>
              <a:rPr sz="2600" b="1" dirty="0" err="1">
                <a:solidFill>
                  <a:srgbClr val="F5F7F6"/>
                </a:solidFill>
                <a:latin typeface="Calibri"/>
              </a:rPr>
              <a:t>klenenler</a:t>
            </a:r>
            <a:endParaRPr sz="2600" b="1" dirty="0">
              <a:solidFill>
                <a:srgbClr val="F5F7F6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Kritiklik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İlişkilere ağırlık (1–5)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Yoldaki en yüksek değer taşınır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Kritik yollar öne çıkar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Müdahale önceliği netleşir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Calibri"/>
              </a:rPr>
              <a:t>Kök neden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Etki analizinin tersi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İleri yönlü gezinme</a:t>
            </a:r>
          </a:p>
          <a:p>
            <a:pPr>
              <a:spcAft>
                <a:spcPts val="600"/>
              </a:spcAft>
            </a:pPr>
            <a:r>
              <a:rPr lang="tr-TR" sz="1400" dirty="0">
                <a:solidFill>
                  <a:srgbClr val="E8F0EC"/>
                </a:solidFill>
              </a:rPr>
              <a:t>•  Alt bileşen adayları</a:t>
            </a:r>
          </a:p>
          <a:p>
            <a:pPr>
              <a:spcAft>
                <a:spcPts val="600"/>
              </a:spcAft>
            </a:pPr>
            <a:r>
              <a:rPr lang="tr-TR" sz="1400" dirty="0">
                <a:solidFill>
                  <a:srgbClr val="E8F0EC"/>
                </a:solidFill>
              </a:rPr>
              <a:t>•  Arayüzde ayrı görünüm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Çoklu ortam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İkinci ortamdan otomatik keşif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Bulunan kayıtlar merkezi API’ye yazılır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Ortam adı ile CI’lar ayrılır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Ortak envanterde çakışma yok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DEĞERLENDİRME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F5F7F6"/>
                </a:solidFill>
              </a:rPr>
              <a:t>Kapsam ve Gerçek Ürünlerle İlişki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Çözüm, CMDB’nin temel değerini gösterir: ilişki + etki analizi.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Üretim CMDB’leriyle aynı çekirdek mantığı paylaşır: keşif, graf, etki.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Kapsam bilinçli olarak eğitim ölçeğindedir: sade model, odaklı yetenekler.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Gerçek ürünlerde ek olarak federasyon, reconciliation ve change/incident entegrasyonu bulunur.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Bu çalışma,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iş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alanındaki temel mimariyi uygulamalı olarak kanıtlar.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7F6"/>
                </a:solidFill>
                <a:latin typeface="Calibri"/>
              </a:rP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875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A8B8B2"/>
                </a:solidFill>
                <a:latin typeface="Calibri"/>
              </a:rPr>
              <a:t>Mini-CMDB ·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: Veri → API → Discovery →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Etki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 →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Arayüz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Microsoft Office PowerPoint</Application>
  <PresentationFormat>Geniş ekran</PresentationFormat>
  <Paragraphs>143</Paragraphs>
  <Slides>17</Slides>
  <Notes>16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MONSTER</dc:creator>
  <cp:keywords/>
  <dc:description>generated using python-pptx</dc:description>
  <cp:lastModifiedBy>Beyza Yılmaz</cp:lastModifiedBy>
  <cp:revision>11</cp:revision>
  <dcterms:created xsi:type="dcterms:W3CDTF">2013-01-27T09:14:16Z</dcterms:created>
  <dcterms:modified xsi:type="dcterms:W3CDTF">2026-08-07T15:27:19Z</dcterms:modified>
  <cp:category/>
</cp:coreProperties>
</file>